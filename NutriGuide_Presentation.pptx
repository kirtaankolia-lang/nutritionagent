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955bfbb8c1b4845" /><Relationship Type="http://schemas.openxmlformats.org/package/2006/relationships/metadata/core-properties" Target="/docProps/core.xml" Id="Rf5e895152c9b49b5" /><Relationship Type="http://schemas.openxmlformats.org/officeDocument/2006/relationships/extended-properties" Target="/docProps/app.xml" Id="R99afacdc8dae448f" /><Relationship Type="http://schemas.openxmlformats.org/officeDocument/2006/relationships/custom-properties" Target="/docProps/custom.xml" Id="Rf42f4ca653a9435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2c052ce878343a4"/>
  </p:notesMasterIdLst>
  <p:sldIdLst>
    <p:sldId id="256" r:id="Rb66a00b7d397471e"/>
    <p:sldId id="257" r:id="R4816f6491d9f4fe6"/>
    <p:sldId id="258" r:id="R6390797091c14cda"/>
    <p:sldId id="259" r:id="R00d527cc3d124099"/>
    <p:sldId id="260" r:id="Rd34dba86179d4575"/>
    <p:sldId id="261" r:id="R2c3ff0bc1e0042d9"/>
    <p:sldId id="262" r:id="Rbf22155a51674685"/>
    <p:sldId id="263" r:id="Rd5588c3b98f64b6a"/>
    <p:sldId id="264" r:id="R17ef60dfc5ec4a7d"/>
    <p:sldId id="265" r:id="R125cb96374354931"/>
    <p:sldId id="266" r:id="Rf06ef49255d34c45"/>
    <p:sldId id="267" r:id="Ra71ddcb6d05b4f60"/>
    <p:sldId id="268" r:id="R8c97a0613fe44ef0"/>
    <p:sldId id="269" r:id="R910d0ea7fca14db1"/>
    <p:sldId id="270" r:id="R38217d33ee5b4bf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66a00b7d397471e" /><Relationship Type="http://schemas.openxmlformats.org/officeDocument/2006/relationships/notesMaster" Target="/ppt/notesMasters/notesMaster1.xml" Id="Rb2c052ce878343a4" /><Relationship Type="http://schemas.openxmlformats.org/officeDocument/2006/relationships/slide" Target="/ppt/slides/slide2.xml" Id="R4816f6491d9f4fe6" /><Relationship Type="http://schemas.openxmlformats.org/officeDocument/2006/relationships/slide" Target="/ppt/slides/slide3.xml" Id="R6390797091c14cda" /><Relationship Type="http://schemas.openxmlformats.org/officeDocument/2006/relationships/slide" Target="/ppt/slides/slide4.xml" Id="R00d527cc3d124099" /><Relationship Type="http://schemas.openxmlformats.org/officeDocument/2006/relationships/slide" Target="/ppt/slides/slide5.xml" Id="Rd34dba86179d4575" /><Relationship Type="http://schemas.openxmlformats.org/officeDocument/2006/relationships/slide" Target="/ppt/slides/slide6.xml" Id="R2c3ff0bc1e0042d9" /><Relationship Type="http://schemas.openxmlformats.org/officeDocument/2006/relationships/slide" Target="/ppt/slides/slide7.xml" Id="Rbf22155a51674685" /><Relationship Type="http://schemas.openxmlformats.org/officeDocument/2006/relationships/slide" Target="/ppt/slides/slide8.xml" Id="Rd5588c3b98f64b6a" /><Relationship Type="http://schemas.openxmlformats.org/officeDocument/2006/relationships/slide" Target="/ppt/slides/slide9.xml" Id="R17ef60dfc5ec4a7d" /><Relationship Type="http://schemas.openxmlformats.org/officeDocument/2006/relationships/slide" Target="/ppt/slides/slide10.xml" Id="R125cb96374354931" /><Relationship Type="http://schemas.openxmlformats.org/officeDocument/2006/relationships/slide" Target="/ppt/slides/slide11.xml" Id="Rf06ef49255d34c45" /><Relationship Type="http://schemas.openxmlformats.org/officeDocument/2006/relationships/slide" Target="/ppt/slides/slide12.xml" Id="Ra71ddcb6d05b4f60" /><Relationship Type="http://schemas.openxmlformats.org/officeDocument/2006/relationships/slide" Target="/ppt/slides/slide13.xml" Id="R8c97a0613fe44ef0" /><Relationship Type="http://schemas.openxmlformats.org/officeDocument/2006/relationships/slide" Target="/ppt/slides/slide14.xml" Id="R910d0ea7fca14db1" /><Relationship Type="http://schemas.openxmlformats.org/officeDocument/2006/relationships/slide" Target="/ppt/slides/slide15.xml" Id="R38217d33ee5b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dc332de0584e4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a3772f3ad747a7" /><Relationship Type="http://schemas.openxmlformats.org/officeDocument/2006/relationships/slide" Target="/ppt/slides/slide1.xml" Id="R3c9d45f90d4d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3f3d46c1f64745" /><Relationship Type="http://schemas.openxmlformats.org/officeDocument/2006/relationships/slide" Target="/ppt/slides/slide2.xml" Id="Re4eddaaade3249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ed65d67b034f3b" /><Relationship Type="http://schemas.openxmlformats.org/officeDocument/2006/relationships/slide" Target="/ppt/slides/slide3.xml" Id="R765107cdd9b6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d3d6e2ba964e4f" /><Relationship Type="http://schemas.openxmlformats.org/officeDocument/2006/relationships/slide" Target="/ppt/slides/slide4.xml" Id="R4c23f3d79cbc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3810ac1619c45eb" /><Relationship Type="http://schemas.openxmlformats.org/officeDocument/2006/relationships/slide" Target="/ppt/slides/slide5.xml" Id="Rba9f1e717d8846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c85daaa97e484a" /><Relationship Type="http://schemas.openxmlformats.org/officeDocument/2006/relationships/slide" Target="/ppt/slides/slide6.xml" Id="Re4bbe882365749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34109540844229" /><Relationship Type="http://schemas.openxmlformats.org/officeDocument/2006/relationships/slide" Target="/ppt/slides/slide7.xml" Id="R02163fd3ddff49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0db1ade9d1c4a9d" /><Relationship Type="http://schemas.openxmlformats.org/officeDocument/2006/relationships/slide" Target="/ppt/slides/slide8.xml" Id="R97b3470cc8c7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9875a6974af42db" /><Relationship Type="http://schemas.openxmlformats.org/officeDocument/2006/relationships/slide" Target="/ppt/slides/slide9.xml" Id="R1c4bfdd203f346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440e40e70e4f0c" /><Relationship Type="http://schemas.openxmlformats.org/officeDocument/2006/relationships/slide" Target="/ppt/slides/slide10.xml" Id="Rff3ea1d2581c48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8231aa3696472d" /><Relationship Type="http://schemas.openxmlformats.org/officeDocument/2006/relationships/slide" Target="/ppt/slides/slide11.xml" Id="R24407fb6249e44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c2712392c264f3a" /><Relationship Type="http://schemas.openxmlformats.org/officeDocument/2006/relationships/slide" Target="/ppt/slides/slide12.xml" Id="R25098726d75943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5aa55aa790f41f5" /><Relationship Type="http://schemas.openxmlformats.org/officeDocument/2006/relationships/slide" Target="/ppt/slides/slide13.xml" Id="Rda9aad9f75af46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49ae8e58b94a5a" /><Relationship Type="http://schemas.openxmlformats.org/officeDocument/2006/relationships/slide" Target="/ppt/slides/slide14.xml" Id="R8d7aa865aab94e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aaa839593ae4071" /><Relationship Type="http://schemas.openxmlformats.org/officeDocument/2006/relationships/slide" Target="/ppt/slides/slide15.xml" Id="Rd9b177fe4b6a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 for NutriGuide — IBM Granite AI Nutrition Planner. Introduce the project, its purpose and the core technology stack.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slide gives a high-level overview of NutriGuide — what it does and its key capabilities.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Describes the technology choices at each layer and the project folder structure.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project follows the Agentic AI SDLC with 6 phases from requirements through monitoring.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Detailed walkthrough of the 5-phase agent loop with state machine and sample trace output.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Describes each of the 4 discrete composable tools that make up the agent's tool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Granite 13B model configuration details and the Q&amp;A agent setup.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5 REST API endpoints with sample request/response payloads.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safety layers: input validation, prompt ethics, output scanning, medical disclaimer, file security, and HAM tone.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Shows the actual sample output for Priya Sharma — profile, generated .md file structure, and reasoning trace.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Representative 7-day meal plan for Priya Sharma — vegetarian, diabetic, Mumbai. IBM Granite generates location-aware, medically considerate meals.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Describes the SPA UI — input form, Q&amp;A section, plan display, and reasoning trace panel.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Setup guide covering prerequisites, Windows one-click launcher, manual cross-platform setup, and production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12 key features at a glance in a colour-coded grid.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 with GitHub repo link, model details, and license.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7edf3990942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c22e632004b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33b2ab3a34f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7595706c54b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18ae385cf4b4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15090ce0b464b4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f4aa643b64e99" /><Relationship Type="http://schemas.openxmlformats.org/officeDocument/2006/relationships/notesSlide" Target="/ppt/notesSlides/notesSlide1.xml" Id="R2d3dcfe1c1044b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f6e7cccbc4d04" /><Relationship Type="http://schemas.openxmlformats.org/officeDocument/2006/relationships/notesSlide" Target="/ppt/notesSlides/notesSlide2.xml" Id="R21bfe13c3bb9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2b42ce3904bda" /><Relationship Type="http://schemas.openxmlformats.org/officeDocument/2006/relationships/notesSlide" Target="/ppt/notesSlides/notesSlide3.xml" Id="R01d6fb94b082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6d5f1c56940e9" /><Relationship Type="http://schemas.openxmlformats.org/officeDocument/2006/relationships/notesSlide" Target="/ppt/notesSlides/notesSlide4.xml" Id="Raa4680bb10c8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811d8dd90492e" /><Relationship Type="http://schemas.openxmlformats.org/officeDocument/2006/relationships/notesSlide" Target="/ppt/notesSlides/notesSlide5.xml" Id="Rab682e139e824c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be01f72034073" /><Relationship Type="http://schemas.openxmlformats.org/officeDocument/2006/relationships/notesSlide" Target="/ppt/notesSlides/notesSlide6.xml" Id="R14017d3f41b24b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1f7d7991a455a" /><Relationship Type="http://schemas.openxmlformats.org/officeDocument/2006/relationships/notesSlide" Target="/ppt/notesSlides/notesSlide7.xml" Id="Rb24be1825e8f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5888006f642de" /><Relationship Type="http://schemas.openxmlformats.org/officeDocument/2006/relationships/notesSlide" Target="/ppt/notesSlides/notesSlide8.xml" Id="Reaf0018ad12a4e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88d6fb8e84a64" /><Relationship Type="http://schemas.openxmlformats.org/officeDocument/2006/relationships/notesSlide" Target="/ppt/notesSlides/notesSlide9.xml" Id="Rbe688a90874144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31c5236b4dba" /><Relationship Type="http://schemas.openxmlformats.org/officeDocument/2006/relationships/notesSlide" Target="/ppt/notesSlides/notesSlide10.xml" Id="R0aee1005e65644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eba7a29684c68" /><Relationship Type="http://schemas.openxmlformats.org/officeDocument/2006/relationships/notesSlide" Target="/ppt/notesSlides/notesSlide11.xml" Id="R9a9c4a6d384f46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fb02db6fa4d93" /><Relationship Type="http://schemas.openxmlformats.org/officeDocument/2006/relationships/notesSlide" Target="/ppt/notesSlides/notesSlide12.xml" Id="R4899c10cf64d4e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a4fb887a94c28" /><Relationship Type="http://schemas.openxmlformats.org/officeDocument/2006/relationships/notesSlide" Target="/ppt/notesSlides/notesSlide13.xml" Id="R216d09faf0a644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1c80ad1aa4f88" /><Relationship Type="http://schemas.openxmlformats.org/officeDocument/2006/relationships/notesSlide" Target="/ppt/notesSlides/notesSlide14.xml" Id="Rbc4630000cad49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39671ee842e5" /><Relationship Type="http://schemas.openxmlformats.org/officeDocument/2006/relationships/notesSlide" Target="/ppt/notesSlides/notesSlide15.xml" Id="R06ba498e445346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E6FBF"/>
              </a:solidFill>
            </a:endParaRPr>
          </a:p>
        </p:txBody>
      </p:sp>
      <p:sp>
        <p:nvSpPr>
          <p:cNvPr id="100001" name="IBM_Badge"/>
          <p:cNvSpPr txBox="1"/>
          <p:nvPr/>
        </p:nvSpPr>
        <p:spPr>
          <a:xfrm xmlns:a="http://schemas.openxmlformats.org/drawingml/2006/main">
            <a:off x="540000" y="432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EB8F7"/>
                </a:solidFill>
              </a:rPr>
              <a:t>IBM Granite  ·  watsonx.ai  ·  Agentic AI</a:t>
            </a:r>
          </a:p>
        </p:txBody>
      </p:sp>
      <p:sp>
        <p:nvSpPr>
          <p:cNvPr id="100002" name="MainTitle"/>
          <p:cNvSpPr txBox="1"/>
          <p:nvPr/>
        </p:nvSpPr>
        <p:spPr>
          <a:xfrm xmlns:a="http://schemas.openxmlformats.org/drawingml/2006/main">
            <a:off x="540000" y="90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Calibri"/>
                <a:ea typeface="Calibri"/>
              </a:rPr>
              <a:t>NutriGuide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23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7EB8F7"/>
                </a:solidFill>
                <a:latin typeface="Calibri"/>
                <a:ea typeface="Calibri"/>
              </a:rPr>
              <a:t>IBM Granite AI Nutrition Planner</a:t>
            </a:r>
          </a:p>
        </p:txBody>
      </p:sp>
      <p:sp>
        <p:nvSpPr>
          <p:cNvPr id="100004" name="Tagline"/>
          <p:cNvSpPr txBox="1"/>
          <p:nvPr/>
        </p:nvSpPr>
        <p:spPr>
          <a:xfrm xmlns:a="http://schemas.openxmlformats.org/drawingml/2006/main">
            <a:off x="540000" y="288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BCFE8"/>
                </a:solidFill>
              </a:rPr>
              <a:t>A fully agentic, web-based Nutrition Planner powered by IBM Granite 13B via watsonx.ai</a:t>
            </a:r>
          </a:p>
        </p:txBody>
      </p:sp>
      <p:sp>
        <p:nvSpPr>
          <p:cNvPr id="100005" name="Stack"/>
          <p:cNvSpPr txBox="1"/>
          <p:nvPr/>
        </p:nvSpPr>
        <p:spPr>
          <a:xfrm xmlns:a="http://schemas.openxmlformats.org/drawingml/2006/main">
            <a:off x="540000" y="342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EB8F7"/>
                </a:solidFill>
              </a:rPr>
              <a:t>Python 3.10+  ·  Flask 3.x  ·  IBM watsonx.ai  ·  Agentic SDLC  ·  AI Ethics</a:t>
            </a:r>
          </a:p>
        </p:txBody>
      </p:sp>
      <p:sp>
        <p:nvSpPr>
          <p:cNvPr id="100006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E6FBF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08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00009" name="OverviewBody"/>
          <p:cNvSpPr txBox="1"/>
          <p:nvPr/>
        </p:nvSpPr>
        <p:spPr>
          <a:xfrm xmlns:a="http://schemas.openxmlformats.org/drawingml/2006/main">
            <a:off x="540000" y="648000"/>
            <a:ext cx="108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What is NutriGuide?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NutriGuide is a production-ready Agentic AI web application that generates personalised 7-day nutrition plans using the IBM Granite 13B Instruct language model via IBM watsonx.ai.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Key Capabilities: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Collects user profile — name, age, diet preference, medical history, city, country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Validates all inputs through an agentic perception layer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Generates a comprehensive 7-day meal plan personalised to the user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Guards output with safety filters that block harmful diet advice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Exports the plan as a downloadable Markdown (.md) file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Answers common nutrition questions via a dedicated Q&amp;A agent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 Returns a full agentic reasoning trace with every response</a:t>
            </a:r>
          </a:p>
        </p:txBody>
      </p:sp>
      <p:sp>
        <p:nvSpPr>
          <p:cNvPr id="100010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12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Tech Stack &amp; Architecture</a:t>
            </a:r>
          </a:p>
        </p:txBody>
      </p:sp>
      <p:sp>
        <p:nvSpPr>
          <p:cNvPr id="100013" name="StackTable"/>
          <p:cNvSpPr txBox="1"/>
          <p:nvPr/>
        </p:nvSpPr>
        <p:spPr>
          <a:xfrm xmlns:a="http://schemas.openxmlformats.org/drawingml/2006/main">
            <a:off x="540000" y="648000"/>
            <a:ext cx="108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Layer                     Technology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LLM                        IBM Granite 13B Instruct v2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AI Platform              IBM watsonx.ai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Backend                  Python 3.10+  ·  Flask 3.x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Frontend                 Vanilla HTML5  ·  CSS3  ·  JavaScript ES2020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CORS                      flask-cors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Config                     python-dotenv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Export                     Python stdlib (os, re, datetime)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Launcher                  Windows run.bat (one-click setup)</a:t>
            </a:r>
          </a:p>
        </p:txBody>
      </p:sp>
      <p:sp>
        <p:nvSpPr>
          <p:cNvPr id="100014" name="ArchTitle"/>
          <p:cNvSpPr txBox="1"/>
          <p:nvPr/>
        </p:nvSpPr>
        <p:spPr>
          <a:xfrm xmlns:a="http://schemas.openxmlformats.org/drawingml/2006/main">
            <a:off x="540000" y="331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A2540"/>
                </a:solidFill>
              </a:rPr>
              <a:t>Project Structure</a:t>
            </a:r>
          </a:p>
        </p:txBody>
      </p:sp>
      <p:sp>
        <p:nvSpPr>
          <p:cNvPr id="100015" name="ArchBody"/>
          <p:cNvSpPr txBox="1"/>
          <p:nvPr/>
        </p:nvSpPr>
        <p:spPr>
          <a:xfrm xmlns:a="http://schemas.openxmlformats.org/drawingml/2006/main">
            <a:off x="540000" y="3672000"/>
            <a:ext cx="1080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nutrition_ai/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app.py               Flask web server — 5 REST endpoints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requirements.txt   Python dependencies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.env.example       IBM watsonx.ai credentials template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run.bat              Windows one-click setup &amp; launcher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agents/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  nutri_agent.py   NutriGuideAgent + NutriQAAgent (orchestration)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  tools.py            4 agentic tools (tool layer)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plans/               Auto-created — stores generated .md plans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templates/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    index.html          Single-page application (SPA)</a:t>
            </a:r>
          </a:p>
        </p:txBody>
      </p:sp>
      <p:sp>
        <p:nvSpPr>
          <p:cNvPr id="100016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7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18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Agentic AI SDLC — 6 Phases</a:t>
            </a:r>
          </a:p>
        </p:txBody>
      </p:sp>
      <p:sp>
        <p:nvSpPr>
          <p:cNvPr id="100019" name="Phase1"/>
          <p:cNvSpPr txBox="1"/>
          <p:nvPr/>
        </p:nvSpPr>
        <p:spPr>
          <a:xfrm xmlns:a="http://schemas.openxmlformats.org/drawingml/2006/main">
            <a:off x="540000" y="648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1 — Requirements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Nutrition goals, user profile schema, ethics constraints defined upfront.</a:t>
            </a:r>
          </a:p>
        </p:txBody>
      </p:sp>
      <p:sp>
        <p:nvSpPr>
          <p:cNvPr id="100020" name="Phase2"/>
          <p:cNvSpPr txBox="1"/>
          <p:nvPr/>
        </p:nvSpPr>
        <p:spPr>
          <a:xfrm xmlns:a="http://schemas.openxmlformats.org/drawingml/2006/main">
            <a:off x="6120000" y="648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2 — Tool Design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validate_user_profile  ·  build_nutrition_prompt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apply_guardrails  ·  save_plan_to_markdown</a:t>
            </a:r>
          </a:p>
        </p:txBody>
      </p:sp>
      <p:sp>
        <p:nvSpPr>
          <p:cNvPr id="100021" name="Phase3"/>
          <p:cNvSpPr txBox="1"/>
          <p:nvPr/>
        </p:nvSpPr>
        <p:spPr>
          <a:xfrm xmlns:a="http://schemas.openxmlformats.org/drawingml/2006/main">
            <a:off x="540000" y="1872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3 — Agent Loop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PERCEIVE → PLAN → ACT → GUARDRAIL → REFLECT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Full state machine in NutriGuideAgent class.</a:t>
            </a:r>
          </a:p>
        </p:txBody>
      </p:sp>
      <p:sp>
        <p:nvSpPr>
          <p:cNvPr id="100022" name="Phase4"/>
          <p:cNvSpPr txBox="1"/>
          <p:nvPr/>
        </p:nvSpPr>
        <p:spPr>
          <a:xfrm xmlns:a="http://schemas.openxmlformats.org/drawingml/2006/main">
            <a:off x="6120000" y="1872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4 — Guardrails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Harmful content detection via regex patterns.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Ethics rules embedded in every system prompt.</a:t>
            </a:r>
          </a:p>
        </p:txBody>
      </p:sp>
      <p:sp>
        <p:nvSpPr>
          <p:cNvPr id="100023" name="Phase5"/>
          <p:cNvSpPr txBox="1"/>
          <p:nvPr/>
        </p:nvSpPr>
        <p:spPr>
          <a:xfrm xmlns:a="http://schemas.openxmlformats.org/drawingml/2006/main">
            <a:off x="540000" y="3096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5 — Deployment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Flask REST API + Single-Page Application (SPA)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Running on localhost:5000</a:t>
            </a:r>
          </a:p>
        </p:txBody>
      </p:sp>
      <p:sp>
        <p:nvSpPr>
          <p:cNvPr id="100024" name="Phase6"/>
          <p:cNvSpPr txBox="1"/>
          <p:nvPr/>
        </p:nvSpPr>
        <p:spPr>
          <a:xfrm xmlns:a="http://schemas.openxmlformats.org/drawingml/2006/main">
            <a:off x="6120000" y="3096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Phase 6 — Monitoring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Per-request reasoning trace logged and returned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with every API response.</a:t>
            </a:r>
          </a:p>
        </p:txBody>
      </p:sp>
      <p:sp>
        <p:nvSpPr>
          <p:cNvPr id="100025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27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Agent Loop — PERCEIVE → PLAN → ACT → GUARDRAIL → REFLECT</a:t>
            </a:r>
          </a:p>
        </p:txBody>
      </p:sp>
      <p:sp>
        <p:nvSpPr>
          <p:cNvPr id="100028" name="Step1"/>
          <p:cNvSpPr txBox="1"/>
          <p:nvPr/>
        </p:nvSpPr>
        <p:spPr>
          <a:xfrm xmlns:a="http://schemas.openxmlformats.org/drawingml/2006/main">
            <a:off x="540000" y="72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① PERCEIVE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validate_user_profile()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Sanitise + validate all fields.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Block bad input early.</a:t>
            </a:r>
          </a:p>
        </p:txBody>
      </p:sp>
      <p:sp>
        <p:nvSpPr>
          <p:cNvPr id="100029" name="Arrow1"/>
          <p:cNvSpPr txBox="1"/>
          <p:nvPr/>
        </p:nvSpPr>
        <p:spPr>
          <a:xfrm xmlns:a="http://schemas.openxmlformats.org/drawingml/2006/main">
            <a:off x="2592000" y="144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A2540"/>
                </a:solidFill>
              </a:rPr>
              <a:t>→</a:t>
            </a:r>
          </a:p>
        </p:txBody>
      </p:sp>
      <p:sp>
        <p:nvSpPr>
          <p:cNvPr id="100030" name="Step2"/>
          <p:cNvSpPr txBox="1"/>
          <p:nvPr/>
        </p:nvSpPr>
        <p:spPr>
          <a:xfrm xmlns:a="http://schemas.openxmlformats.org/drawingml/2006/main">
            <a:off x="3060000" y="72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② PLAN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build_nutrition_prompt()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Embed HAM tone +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6 ethics rules in prompt.</a:t>
            </a:r>
          </a:p>
        </p:txBody>
      </p:sp>
      <p:sp>
        <p:nvSpPr>
          <p:cNvPr id="100031" name="Arrow2"/>
          <p:cNvSpPr txBox="1"/>
          <p:nvPr/>
        </p:nvSpPr>
        <p:spPr>
          <a:xfrm xmlns:a="http://schemas.openxmlformats.org/drawingml/2006/main">
            <a:off x="5112000" y="144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A2540"/>
                </a:solidFill>
              </a:rPr>
              <a:t>→</a:t>
            </a:r>
          </a:p>
        </p:txBody>
      </p:sp>
      <p:sp>
        <p:nvSpPr>
          <p:cNvPr id="100032" name="Step3"/>
          <p:cNvSpPr txBox="1"/>
          <p:nvPr/>
        </p:nvSpPr>
        <p:spPr>
          <a:xfrm xmlns:a="http://schemas.openxmlformats.org/drawingml/2006/main">
            <a:off x="5580000" y="72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③ ACT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IBM Granite LLM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(watsonx.ai)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Generate 7-day plan.</a:t>
            </a:r>
          </a:p>
        </p:txBody>
      </p:sp>
      <p:sp>
        <p:nvSpPr>
          <p:cNvPr id="100033" name="Arrow3"/>
          <p:cNvSpPr txBox="1"/>
          <p:nvPr/>
        </p:nvSpPr>
        <p:spPr>
          <a:xfrm xmlns:a="http://schemas.openxmlformats.org/drawingml/2006/main">
            <a:off x="7632000" y="144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A2540"/>
                </a:solidFill>
              </a:rPr>
              <a:t>→</a:t>
            </a:r>
          </a:p>
        </p:txBody>
      </p:sp>
      <p:sp>
        <p:nvSpPr>
          <p:cNvPr id="100034" name="Step4"/>
          <p:cNvSpPr txBox="1"/>
          <p:nvPr/>
        </p:nvSpPr>
        <p:spPr>
          <a:xfrm xmlns:a="http://schemas.openxmlformats.org/drawingml/2006/main">
            <a:off x="8100000" y="72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④ GUARDRAIL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apply_guardrails()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Block harmful content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patterns via regex.</a:t>
            </a:r>
          </a:p>
        </p:txBody>
      </p:sp>
      <p:sp>
        <p:nvSpPr>
          <p:cNvPr id="100035" name="Arrow4"/>
          <p:cNvSpPr txBox="1"/>
          <p:nvPr/>
        </p:nvSpPr>
        <p:spPr>
          <a:xfrm xmlns:a="http://schemas.openxmlformats.org/drawingml/2006/main">
            <a:off x="10152000" y="144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A2540"/>
                </a:solidFill>
              </a:rPr>
              <a:t>→</a:t>
            </a:r>
          </a:p>
        </p:txBody>
      </p:sp>
      <p:sp>
        <p:nvSpPr>
          <p:cNvPr id="100036" name="Step5"/>
          <p:cNvSpPr txBox="1"/>
          <p:nvPr/>
        </p:nvSpPr>
        <p:spPr>
          <a:xfrm xmlns:a="http://schemas.openxmlformats.org/drawingml/2006/main">
            <a:off x="10620000" y="720000"/>
            <a:ext cx="14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⑤ REFLECT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save_plan_to_markdown()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Export .md to plans/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Return plan + trace.</a:t>
            </a:r>
          </a:p>
        </p:txBody>
      </p:sp>
      <p:sp>
        <p:nvSpPr>
          <p:cNvPr id="100037" name="CodeBox"/>
          <p:cNvSpPr txBox="1"/>
          <p:nvPr/>
        </p:nvSpPr>
        <p:spPr>
          <a:xfrm xmlns:a="http://schemas.openxmlformats.org/drawingml/2006/main">
            <a:off x="540000" y="2808000"/>
            <a:ext cx="1080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 NutriGuideAgent state transitions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IDLE → PERCEIVING → PLANNING → ACTING → GUARDRAILING → REFLECTING → DONE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 Each phase logs to self.trace — returned to frontend with every plan response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[{'phase':'PERCEIVE','message':'Profile validated successfully.'},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{'phase':'PLAN',    'message':'Prompt constructed with ethics guardrails embedded.'},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{'phase':'ACT',     'message':'Response received from IBM Granite.'},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{'phase':'GUARDRAIL','message':'Content cleared. No harmful patterns detected.'},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{'phase':'REFLECT', 'message':'Plan saved: plans/priya_sharma_20261013_150236.md'}]</a:t>
            </a:r>
          </a:p>
        </p:txBody>
      </p:sp>
      <p:sp>
        <p:nvSpPr>
          <p:cNvPr id="100038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9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40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4 Agentic Tools — Tool Layer (tools.py)</a:t>
            </a:r>
          </a:p>
        </p:txBody>
      </p:sp>
      <p:sp>
        <p:nvSpPr>
          <p:cNvPr id="100041" name="T1"/>
          <p:cNvSpPr txBox="1"/>
          <p:nvPr/>
        </p:nvSpPr>
        <p:spPr>
          <a:xfrm xmlns:a="http://schemas.openxmlformats.org/drawingml/2006/main">
            <a:off x="540000" y="648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TOOL 1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validate_user_profile()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Validates and sanitises the user profile.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Checks: name length, age range (1-120), diet preference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from allowed set, medical history (strips script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injections), city and country presence.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Returns: {valid, errors, sanitised}</a:t>
            </a:r>
          </a:p>
        </p:txBody>
      </p:sp>
      <p:sp>
        <p:nvSpPr>
          <p:cNvPr id="100042" name="T2"/>
          <p:cNvSpPr txBox="1"/>
          <p:nvPr/>
        </p:nvSpPr>
        <p:spPr>
          <a:xfrm xmlns:a="http://schemas.openxmlformats.org/drawingml/2006/main">
            <a:off x="6300000" y="648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TOOL 2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build_nutrition_prompt()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Constructs an ethics-aware prompt for IBM Granite.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Embeds HAM tone (Helpful, Accurate, Mindful).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Determines life-stage (child/adolescent/adult/senior).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6 explicit guardrail rules in system prompt.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Returns: (system_prompt, user_prompt) tuple</a:t>
            </a:r>
          </a:p>
        </p:txBody>
      </p:sp>
      <p:sp>
        <p:nvSpPr>
          <p:cNvPr id="100043" name="T3"/>
          <p:cNvSpPr txBox="1"/>
          <p:nvPr/>
        </p:nvSpPr>
        <p:spPr>
          <a:xfrm xmlns:a="http://schemas.openxmlformats.org/drawingml/2006/main">
            <a:off x="540000" y="360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TOOL 3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apply_guardrails()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Scans LLM output for harmful patterns using regex: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starvation / extreme fasting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laxative/diuretic abuse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suicide / self-harm mentions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'eat nothing' / 'skip all meals'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Returns: {safe, flagged_terms, message}</a:t>
            </a:r>
          </a:p>
        </p:txBody>
      </p:sp>
      <p:sp>
        <p:nvSpPr>
          <p:cNvPr id="100044" name="T4"/>
          <p:cNvSpPr txBox="1"/>
          <p:nvPr/>
        </p:nvSpPr>
        <p:spPr>
          <a:xfrm xmlns:a="http://schemas.openxmlformats.org/drawingml/2006/main">
            <a:off x="6300000" y="360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TOOL 4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save_plan_to_markdown()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Persists the generated plan as a Markdown file.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Filename format: &lt;name&gt;_&lt;YYYYMMDD_HHMMSS&gt;.md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Saved to plans/ directory (auto-created).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Prepends metadata header (name, age, date, location,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medical history).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Returns: filepath string</a:t>
            </a:r>
          </a:p>
        </p:txBody>
      </p:sp>
      <p:sp>
        <p:nvSpPr>
          <p:cNvPr id="100045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6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47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IBM Granite Model Configuration (nutri_agent.py)</a:t>
            </a:r>
          </a:p>
        </p:txBody>
      </p:sp>
      <p:sp>
        <p:nvSpPr>
          <p:cNvPr id="100048" name="ModelBox"/>
          <p:cNvSpPr txBox="1"/>
          <p:nvPr/>
        </p:nvSpPr>
        <p:spPr>
          <a:xfrm xmlns:a="http://schemas.openxmlformats.org/drawingml/2006/main">
            <a:off x="540000" y="720000"/>
            <a:ext cx="108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Model ID:  ibm/granite-13b-instruct-v2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Platform:  IBM watsonx.ai  (us-south.ml.cloud.ibm.com)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Generation Parameters: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MAX_NEW_TOKENS      3000    (full 7-day plan output)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TEMPERATURE            0.7     (balanced creativity)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TOP_P                       0.9     (nucleus sampling)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REPETITION_PENALTY  1.1     (reduce repetition)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STOP_SEQUENCES      &lt;|endoftext|&gt;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Prompt Format (Llama instruction template):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[INST] &lt;&lt;SYS&gt;&gt;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{system_prompt with 6 ethics guardrails}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&lt;&lt;/SYS&gt;&gt;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{user_prompt with 8-section plan structure}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  <a:latin typeface="Courier New"/>
                <a:ea typeface="Courier New"/>
              </a:rPr>
              <a:t>  [/INST]</a:t>
            </a:r>
          </a:p>
        </p:txBody>
      </p:sp>
      <p:sp>
        <p:nvSpPr>
          <p:cNvPr id="100049" name="HAMTitle"/>
          <p:cNvSpPr txBox="1"/>
          <p:nvPr/>
        </p:nvSpPr>
        <p:spPr>
          <a:xfrm xmlns:a="http://schemas.openxmlformats.org/drawingml/2006/main">
            <a:off x="540000" y="4500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HAM Tone Enforcement</a:t>
            </a:r>
          </a:p>
        </p:txBody>
      </p:sp>
      <p:sp>
        <p:nvSpPr>
          <p:cNvPr id="100050" name="HAMBody"/>
          <p:cNvSpPr txBox="1"/>
          <p:nvPr/>
        </p:nvSpPr>
        <p:spPr>
          <a:xfrm xmlns:a="http://schemas.openxmlformats.org/drawingml/2006/main">
            <a:off x="540000" y="4824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H — Helpful  :  practical, locally available meal suggestions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A — Accurate :  evidence-based nutritional guidance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M — Mindful  :  culturally sensitive, medically cautious</a:t>
            </a:r>
          </a:p>
        </p:txBody>
      </p:sp>
      <p:sp>
        <p:nvSpPr>
          <p:cNvPr id="100051" name="QATitle"/>
          <p:cNvSpPr txBox="1"/>
          <p:nvPr/>
        </p:nvSpPr>
        <p:spPr>
          <a:xfrm xmlns:a="http://schemas.openxmlformats.org/drawingml/2006/main">
            <a:off x="6120000" y="4500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Q&amp;A Agent Configuration</a:t>
            </a:r>
          </a:p>
        </p:txBody>
      </p:sp>
      <p:sp>
        <p:nvSpPr>
          <p:cNvPr id="100052" name="QABody"/>
          <p:cNvSpPr txBox="1"/>
          <p:nvPr/>
        </p:nvSpPr>
        <p:spPr>
          <a:xfrm xmlns:a="http://schemas.openxmlformats.org/drawingml/2006/main">
            <a:off x="6120000" y="4824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MAX_NEW_TOKENS : 400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TEMPERATURE    : 0.5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Scope             : under 200 words per answer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Guardrail         : apply_guardrails() on every answer</a:t>
            </a:r>
          </a:p>
        </p:txBody>
      </p:sp>
      <p:sp>
        <p:nvSpPr>
          <p:cNvPr id="100053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55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REST API Reference (app.py)</a:t>
            </a:r>
          </a:p>
        </p:txBody>
      </p:sp>
      <p:sp>
        <p:nvSpPr>
          <p:cNvPr id="100056" name="API1"/>
          <p:cNvSpPr txBox="1"/>
          <p:nvPr/>
        </p:nvSpPr>
        <p:spPr>
          <a:xfrm xmlns:a="http://schemas.openxmlformats.org/drawingml/2006/main">
            <a:off x="540000" y="648000"/>
            <a:ext cx="108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POST /api/plan — Generate Personalised Nutrition Plan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Request Body: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{ "name": "Priya Sharma", "age": 35, "diet_preference": "veg",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  "medical_history": "diabetes", "city": "Mumbai", "country": "India" }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Response (success):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{ "success": true, "plan": "## 1. Nutritional Assessment...",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  "filename": "priya_sharma_20261013_150236.md",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  "trace": [{"phase":"PERCEIVE","message":"Profile validated successfully."}, ...] }</a:t>
            </a:r>
          </a:p>
        </p:txBody>
      </p:sp>
      <p:sp>
        <p:nvSpPr>
          <p:cNvPr id="100057" name="API2"/>
          <p:cNvSpPr txBox="1"/>
          <p:nvPr/>
        </p:nvSpPr>
        <p:spPr>
          <a:xfrm xmlns:a="http://schemas.openxmlformats.org/drawingml/2006/main">
            <a:off x="540000" y="3240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POST /api/qa — Nutrition Q&amp;A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Request:  { "question": "What foods help lower blood pressure naturally?" }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Response: { "success": true, "answer": "Foods rich in potassium, magnesium..." }</a:t>
            </a:r>
          </a:p>
        </p:txBody>
      </p:sp>
      <p:sp>
        <p:nvSpPr>
          <p:cNvPr id="100058" name="API3"/>
          <p:cNvSpPr txBox="1"/>
          <p:nvPr/>
        </p:nvSpPr>
        <p:spPr>
          <a:xfrm xmlns:a="http://schemas.openxmlformats.org/drawingml/2006/main">
            <a:off x="540000" y="4752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GET /api/download/&lt;filename&gt;   → Download generated .md plan file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GET /api/health                        → { "status": "ok", "model": "ibm/granite-13b-instruct-v2" }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GET /                                        → Serve SPA frontend (index.html)</a:t>
            </a:r>
          </a:p>
        </p:txBody>
      </p:sp>
      <p:sp>
        <p:nvSpPr>
          <p:cNvPr id="100059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0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61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AI Ethics &amp; Safety Layers</a:t>
            </a:r>
          </a:p>
        </p:txBody>
      </p:sp>
      <p:sp>
        <p:nvSpPr>
          <p:cNvPr id="100062" name="E1"/>
          <p:cNvSpPr txBox="1"/>
          <p:nvPr/>
        </p:nvSpPr>
        <p:spPr>
          <a:xfrm xmlns:a="http://schemas.openxmlformats.org/drawingml/2006/main">
            <a:off x="540000" y="648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Input Validation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Name, age, diet, location validated.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Script injection characters stripped from all fields.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All inputs capped to safe lengths.</a:t>
            </a:r>
          </a:p>
        </p:txBody>
      </p:sp>
      <p:sp>
        <p:nvSpPr>
          <p:cNvPr id="100063" name="E2"/>
          <p:cNvSpPr txBox="1"/>
          <p:nvPr/>
        </p:nvSpPr>
        <p:spPr>
          <a:xfrm xmlns:a="http://schemas.openxmlformats.org/drawingml/2006/main">
            <a:off x="6120000" y="648000"/>
            <a:ext cx="54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Prompt Ethics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System prompt embeds 6 explicit guardrail rules: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1. No extreme calorie restriction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2. Defer medical concerns to professionals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3. Cultural sensitivity to user location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4. HAM tone throughout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5. No specific medication advice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6. Flag high-risk conditions with extra care</a:t>
            </a:r>
          </a:p>
        </p:txBody>
      </p:sp>
      <p:sp>
        <p:nvSpPr>
          <p:cNvPr id="100064" name="E3"/>
          <p:cNvSpPr txBox="1"/>
          <p:nvPr/>
        </p:nvSpPr>
        <p:spPr>
          <a:xfrm xmlns:a="http://schemas.openxmlformats.org/drawingml/2006/main">
            <a:off x="540000" y="2232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Output Scanning (apply_guardrails)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Regex patterns detect harmful advice: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starvation / extreme restriction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laxative / diuretic abuse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suicide / self-harm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'eat nothing' / 'skip all meals'</a:t>
            </a:r>
          </a:p>
        </p:txBody>
      </p:sp>
      <p:sp>
        <p:nvSpPr>
          <p:cNvPr id="100065" name="E4"/>
          <p:cNvSpPr txBox="1"/>
          <p:nvPr/>
        </p:nvSpPr>
        <p:spPr>
          <a:xfrm xmlns:a="http://schemas.openxmlformats.org/drawingml/2006/main">
            <a:off x="6120000" y="2232000"/>
            <a:ext cx="54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Medical Disclaimer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Prominently displayed on every generated plan.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AI-generated content is for informational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purposes only — not a substitute for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professional medical or dietetic advice.</a:t>
            </a:r>
          </a:p>
        </p:txBody>
      </p:sp>
      <p:sp>
        <p:nvSpPr>
          <p:cNvPr id="100066" name="E5"/>
          <p:cNvSpPr txBox="1"/>
          <p:nvPr/>
        </p:nvSpPr>
        <p:spPr>
          <a:xfrm xmlns:a="http://schemas.openxmlformats.org/drawingml/2006/main">
            <a:off x="540000" y="3816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File Security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Download endpoint prevents path traversal.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Only .md files inside plans/ directory allowed.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'..' and '/' blocked in filename parameter.</a:t>
            </a:r>
          </a:p>
        </p:txBody>
      </p:sp>
      <p:sp>
        <p:nvSpPr>
          <p:cNvPr id="100067" name="E6"/>
          <p:cNvSpPr txBox="1"/>
          <p:nvPr/>
        </p:nvSpPr>
        <p:spPr>
          <a:xfrm xmlns:a="http://schemas.openxmlformats.org/drawingml/2006/main">
            <a:off x="6120000" y="3816000"/>
            <a:ext cx="54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HAM Tone Enforcement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Helpful — practical, actionable meal suggestions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Accurate — evidence-based nutritional guidance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Mindful — culturally sensitive &amp; medically cautious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Applied on every LLM invocation.</a:t>
            </a:r>
          </a:p>
        </p:txBody>
      </p:sp>
      <p:sp>
        <p:nvSpPr>
          <p:cNvPr id="100068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9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70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Sample Output — Generated Nutrition Plan</a:t>
            </a:r>
          </a:p>
        </p:txBody>
      </p:sp>
      <p:sp>
        <p:nvSpPr>
          <p:cNvPr id="100071" name="ProfileLabel"/>
          <p:cNvSpPr txBox="1"/>
          <p:nvPr/>
        </p:nvSpPr>
        <p:spPr>
          <a:xfrm xmlns:a="http://schemas.openxmlformats.org/drawingml/2006/main">
            <a:off x="540000" y="648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Sample User Profile</a:t>
            </a:r>
          </a:p>
        </p:txBody>
      </p:sp>
      <p:sp>
        <p:nvSpPr>
          <p:cNvPr id="100072" name="ProfileBox"/>
          <p:cNvSpPr txBox="1"/>
          <p:nvPr/>
        </p:nvSpPr>
        <p:spPr>
          <a:xfrm xmlns:a="http://schemas.openxmlformats.org/drawingml/2006/main">
            <a:off x="540000" y="972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ourier New"/>
                <a:ea typeface="Courier New"/>
              </a:rPr>
              <a:t>Name            :  Priya Sharma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ourier New"/>
                <a:ea typeface="Courier New"/>
              </a:rPr>
              <a:t>Age               :  35  (adult)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ourier New"/>
                <a:ea typeface="Courier New"/>
              </a:rPr>
              <a:t>Diet               :  Vegetarian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ourier New"/>
                <a:ea typeface="Courier New"/>
              </a:rPr>
              <a:t>Medical History :  Diabetes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ourier New"/>
                <a:ea typeface="Courier New"/>
              </a:rPr>
              <a:t>Location          :  Mumbai, India</a:t>
            </a:r>
          </a:p>
        </p:txBody>
      </p:sp>
      <p:sp>
        <p:nvSpPr>
          <p:cNvPr id="100073" name="FileLabel"/>
          <p:cNvSpPr txBox="1"/>
          <p:nvPr/>
        </p:nvSpPr>
        <p:spPr>
          <a:xfrm xmlns:a="http://schemas.openxmlformats.org/drawingml/2006/main">
            <a:off x="540000" y="2592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59669"/>
                </a:solidFill>
              </a:rPr>
              <a:t>Generated File:  priya_sharma_20261013_150236.md</a:t>
            </a:r>
          </a:p>
        </p:txBody>
      </p:sp>
      <p:sp>
        <p:nvSpPr>
          <p:cNvPr id="100074" name="MDContent"/>
          <p:cNvSpPr txBox="1"/>
          <p:nvPr/>
        </p:nvSpPr>
        <p:spPr>
          <a:xfrm xmlns:a="http://schemas.openxmlformats.org/drawingml/2006/main">
            <a:off x="6120000" y="648000"/>
            <a:ext cx="540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 Personalised Nutrition Plan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Generated by: NutriGuide — IBM Granite AI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Date: October 13, 2026 at 15:02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For: Priya Sharma | Age: 35 | Diet: veg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Location: Mumbai, India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Medical History: diabetes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1. Nutritional Assessment Summary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2. Key Nutritional Goals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3. Foods to Embrace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4. Foods to Limit or Avoid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5. 7-Day Meal Plan (Day 1–7)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 Breakfast · Snack · Lunch · Snack · Dinner · Hydration tip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6. Supplement Recommendations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7. Lifestyle Tips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## 8. Progress Tracking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--- Medical Disclaimer ---</a:t>
            </a:r>
          </a:p>
        </p:txBody>
      </p:sp>
      <p:sp>
        <p:nvSpPr>
          <p:cNvPr id="100075" name="TraceLabel"/>
          <p:cNvSpPr txBox="1"/>
          <p:nvPr/>
        </p:nvSpPr>
        <p:spPr>
          <a:xfrm xmlns:a="http://schemas.openxmlformats.org/drawingml/2006/main">
            <a:off x="540000" y="2952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A2540"/>
                </a:solidFill>
              </a:rPr>
              <a:t>Agentic Reasoning Trace (returned with every plan)</a:t>
            </a:r>
          </a:p>
        </p:txBody>
      </p:sp>
      <p:sp>
        <p:nvSpPr>
          <p:cNvPr id="100076" name="TraceBox"/>
          <p:cNvSpPr txBox="1"/>
          <p:nvPr/>
        </p:nvSpPr>
        <p:spPr>
          <a:xfrm xmlns:a="http://schemas.openxmlformats.org/drawingml/2006/main">
            <a:off x="540000" y="3312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PERCEIVE   Profile validated successfully.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PLAN          Prompt constructed with ethics guardrails embedded.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ACT             Response received from IBM Granite.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GUARDRAIL  Content cleared. No harmful patterns detected.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REFLECT     Plan saved: plans/priya_sharma_20261013_150236.md</a:t>
            </a:r>
          </a:p>
        </p:txBody>
      </p:sp>
      <p:sp>
        <p:nvSpPr>
          <p:cNvPr id="100077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8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79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7-Day Meal Plan Structure — Priya Sharma</a:t>
            </a:r>
          </a:p>
        </p:txBody>
      </p:sp>
      <p:sp>
        <p:nvSpPr>
          <p:cNvPr id="100080" name="PlanNote"/>
          <p:cNvSpPr txBox="1"/>
          <p:nvPr/>
        </p:nvSpPr>
        <p:spPr>
          <a:xfrm xmlns:a="http://schemas.openxmlformats.org/drawingml/2006/main">
            <a:off x="540000" y="648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E6FBF"/>
                </a:solidFill>
              </a:rPr>
              <a:t>The IBM Granite LLM generates a full 7-day plan tailored to: Age 35 · Vegetarian · Diabetes · Mumbai, India</a:t>
            </a:r>
          </a:p>
        </p:txBody>
      </p:sp>
      <p:sp>
        <p:nvSpPr>
          <p:cNvPr id="100081" name="DayCol1"/>
          <p:cNvSpPr txBox="1"/>
          <p:nvPr/>
        </p:nvSpPr>
        <p:spPr>
          <a:xfrm xmlns:a="http://schemas.openxmlformats.org/drawingml/2006/main">
            <a:off x="540000" y="1044000"/>
            <a:ext cx="34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1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Oatmeal with nuts &amp; flax seeds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Apple slices with almond butter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Dal khichdi with steamed veggies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Roasted chana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Palak paneer + 2 rotis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8–10 glasses water + lemon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2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Idli with sambar &amp; chutney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Papaya cubes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Rajma curry + brown rice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Buttermilk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Methi thepla + curd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Coconut water mid-day</a:t>
            </a:r>
          </a:p>
        </p:txBody>
      </p:sp>
      <p:sp>
        <p:nvSpPr>
          <p:cNvPr id="100082" name="DayCol2"/>
          <p:cNvSpPr txBox="1"/>
          <p:nvPr/>
        </p:nvSpPr>
        <p:spPr>
          <a:xfrm xmlns:a="http://schemas.openxmlformats.org/drawingml/2006/main">
            <a:off x="4212000" y="1044000"/>
            <a:ext cx="34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3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Upma with vegetables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Handful of walnuts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Chole with whole wheat roti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Cucumber slices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Mixed veg sabji + dal soup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Herbal tea (fenugreek)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4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Poha with peas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Guava (low GI)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Moong dal + steamed rice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Roasted makhana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Paneer bhurji + salad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Infused water (mint/cucumber)</a:t>
            </a:r>
          </a:p>
        </p:txBody>
      </p:sp>
      <p:sp>
        <p:nvSpPr>
          <p:cNvPr id="100083" name="DayCol3"/>
          <p:cNvSpPr txBox="1"/>
          <p:nvPr/>
        </p:nvSpPr>
        <p:spPr>
          <a:xfrm xmlns:a="http://schemas.openxmlformats.org/drawingml/2006/main">
            <a:off x="7920000" y="1044000"/>
            <a:ext cx="360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5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Vegetable dalia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Orange (vitamin C)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Kadhi + brown rice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Low-fat yoghurt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Lauki sabji + 2 multigrain rotis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Warm water with turmeric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Day 6 &amp; 7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Breakfast: Sprouted moong salad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Chia pudding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Lunch: Masoor dal + veggies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Snack: Handful of almonds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Dinner: Tofu bhurji + roti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Hydration: Jeera water (cumin)</a:t>
            </a:r>
          </a:p>
        </p:txBody>
      </p:sp>
      <p:sp>
        <p:nvSpPr>
          <p:cNvPr id="100084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5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86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Web UI — Single-Page Application (SPA)</a:t>
            </a:r>
          </a:p>
        </p:txBody>
      </p:sp>
      <p:sp>
        <p:nvSpPr>
          <p:cNvPr id="100087" name="UIDesc"/>
          <p:cNvSpPr txBox="1"/>
          <p:nvPr/>
        </p:nvSpPr>
        <p:spPr>
          <a:xfrm xmlns:a="http://schemas.openxmlformats.org/drawingml/2006/main">
            <a:off x="540000" y="648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E6FBF"/>
                </a:solidFill>
              </a:rPr>
              <a:t>The SPA (templates/index.html) provides a responsive no-framework frontend that interacts with the Flask REST API.</a:t>
            </a:r>
          </a:p>
        </p:txBody>
      </p:sp>
      <p:sp>
        <p:nvSpPr>
          <p:cNvPr id="100088" name="FormTitle"/>
          <p:cNvSpPr txBox="1"/>
          <p:nvPr/>
        </p:nvSpPr>
        <p:spPr>
          <a:xfrm xmlns:a="http://schemas.openxmlformats.org/drawingml/2006/main">
            <a:off x="540000" y="1044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Input Form  (POST /api/plan)</a:t>
            </a:r>
          </a:p>
        </p:txBody>
      </p:sp>
      <p:sp>
        <p:nvSpPr>
          <p:cNvPr id="100089" name="FormBox"/>
          <p:cNvSpPr txBox="1"/>
          <p:nvPr/>
        </p:nvSpPr>
        <p:spPr>
          <a:xfrm xmlns:a="http://schemas.openxmlformats.org/drawingml/2006/main">
            <a:off x="540000" y="1404000"/>
            <a:ext cx="52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Full Name            ]  e.g. Priya Sharma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Age                      ]  e.g. 35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Diet Preference    ]  veg / non-veg / vegan / pescatarian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Medical History   ]  e.g. diabetes, hypertension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City                       ]  e.g. Mumbai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Country               ]  e.g. India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Generate My Nutrition Plan ]  ← submit button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Shows loading spinner → displays plan in Markdown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showing all 8 sections + Download (.md) button</a:t>
            </a:r>
          </a:p>
        </p:txBody>
      </p:sp>
      <p:sp>
        <p:nvSpPr>
          <p:cNvPr id="100090" name="QATitle"/>
          <p:cNvSpPr txBox="1"/>
          <p:nvPr/>
        </p:nvSpPr>
        <p:spPr>
          <a:xfrm xmlns:a="http://schemas.openxmlformats.org/drawingml/2006/main">
            <a:off x="6300000" y="1044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Q&amp;A Section  (POST /api/qa)</a:t>
            </a:r>
          </a:p>
        </p:txBody>
      </p:sp>
      <p:sp>
        <p:nvSpPr>
          <p:cNvPr id="100091" name="QABox"/>
          <p:cNvSpPr txBox="1"/>
          <p:nvPr/>
        </p:nvSpPr>
        <p:spPr>
          <a:xfrm xmlns:a="http://schemas.openxmlformats.org/drawingml/2006/main">
            <a:off x="6300000" y="1404000"/>
            <a:ext cx="52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Ask a nutrition question...   ]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[ Ask NutriGuide ]  ← submit button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Example questions: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• What foods help lower blood sugar?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• Can I eat rice if I have diabetes?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• What is the best breakfast for a vegetarian?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Answer displayed below (under 200 words)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with HAM tone guardrails applied.</a:t>
            </a:r>
          </a:p>
        </p:txBody>
      </p:sp>
      <p:sp>
        <p:nvSpPr>
          <p:cNvPr id="100092" name="TraceNote"/>
          <p:cNvSpPr txBox="1"/>
          <p:nvPr/>
        </p:nvSpPr>
        <p:spPr>
          <a:xfrm xmlns:a="http://schemas.openxmlformats.org/drawingml/2006/main">
            <a:off x="540000" y="450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Reasoning Trace Panel — shows all 5 agent phases (PERCEIVE/PLAN/ACT/GUARDRAIL/REFLECT) live after plan generation.</a:t>
            </a:r>
          </a:p>
        </p:txBody>
      </p:sp>
      <p:sp>
        <p:nvSpPr>
          <p:cNvPr id="100093" name="AccessNote"/>
          <p:cNvSpPr txBox="1"/>
          <p:nvPr/>
        </p:nvSpPr>
        <p:spPr>
          <a:xfrm xmlns:a="http://schemas.openxmlformats.org/drawingml/2006/main">
            <a:off x="540000" y="522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059669"/>
                </a:solidFill>
                <a:latin typeface="Courier New"/>
                <a:ea typeface="Courier New"/>
              </a:rPr>
              <a:t>Access: http://localhost:5000  after running  python app.py  or  double-clicking  run.bat</a:t>
            </a:r>
          </a:p>
        </p:txBody>
      </p:sp>
      <p:sp>
        <p:nvSpPr>
          <p:cNvPr id="100094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5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096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Setup &amp; Deployment</a:t>
            </a:r>
          </a:p>
        </p:txBody>
      </p:sp>
      <p:sp>
        <p:nvSpPr>
          <p:cNvPr id="100097" name="PrereqTitle"/>
          <p:cNvSpPr txBox="1"/>
          <p:nvPr/>
        </p:nvSpPr>
        <p:spPr>
          <a:xfrm xmlns:a="http://schemas.openxmlformats.org/drawingml/2006/main">
            <a:off x="540000" y="648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Prerequisites</a:t>
            </a:r>
          </a:p>
        </p:txBody>
      </p:sp>
      <p:sp>
        <p:nvSpPr>
          <p:cNvPr id="100098" name="PrereqBox"/>
          <p:cNvSpPr txBox="1"/>
          <p:nvPr/>
        </p:nvSpPr>
        <p:spPr>
          <a:xfrm xmlns:a="http://schemas.openxmlformats.org/drawingml/2006/main">
            <a:off x="540000" y="972000"/>
            <a:ext cx="52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Python 3.10+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Git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IBM watsonx.ai account (free)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IBM API Key  (cloud.ibm.com/iam/apikeys)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IBM watsonx.ai Project ID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• .env file with 3 variables: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  WATSONX_API_KEY=...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  WATSONX_URL=https://us-south.ml.cloud.ibm.com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  WATSONX_PROJECT_ID=...</a:t>
            </a:r>
          </a:p>
        </p:txBody>
      </p:sp>
      <p:sp>
        <p:nvSpPr>
          <p:cNvPr id="100099" name="QuickStart"/>
          <p:cNvSpPr txBox="1"/>
          <p:nvPr/>
        </p:nvSpPr>
        <p:spPr>
          <a:xfrm xmlns:a="http://schemas.openxmlformats.org/drawingml/2006/main">
            <a:off x="6120000" y="648000"/>
            <a:ext cx="54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Quick Start (Windows — Recommended)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Double-click run.bat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Automatically: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1. Checks Python installation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2. Creates Python virtual environment (venv/)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3. Installs all dependencies from requirements.txt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4. Copies .env.example → .env (prompts for credentials)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5. Starts Flask server on port 5000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  6. Opens http://localhost:5000 in default browser</a:t>
            </a:r>
          </a:p>
        </p:txBody>
      </p:sp>
      <p:sp>
        <p:nvSpPr>
          <p:cNvPr id="100100" name="ManualTitle"/>
          <p:cNvSpPr txBox="1"/>
          <p:nvPr/>
        </p:nvSpPr>
        <p:spPr>
          <a:xfrm xmlns:a="http://schemas.openxmlformats.org/drawingml/2006/main">
            <a:off x="540000" y="331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A2540"/>
                </a:solidFill>
              </a:rPr>
              <a:t>Manual Setup (any OS)</a:t>
            </a:r>
          </a:p>
        </p:txBody>
      </p:sp>
      <p:sp>
        <p:nvSpPr>
          <p:cNvPr id="100101" name="ManualBox"/>
          <p:cNvSpPr txBox="1"/>
          <p:nvPr/>
        </p:nvSpPr>
        <p:spPr>
          <a:xfrm xmlns:a="http://schemas.openxmlformats.org/drawingml/2006/main">
            <a:off x="540000" y="3672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git clone https://github.com/kirtaankolia-lang/nutritionAgent.git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cd nutritionAgent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python -m venv venv  &amp;&amp;  venv\Scripts\activate    # Windows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source venv/bin/activate                                       # macOS/Linux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pip install -r requirements.txt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cp .env.example .env   # add your IBM credentials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python app.py            # → http://localhost:5000</a:t>
            </a:r>
          </a:p>
        </p:txBody>
      </p:sp>
      <p:sp>
        <p:nvSpPr>
          <p:cNvPr id="100102" name="ProdNote"/>
          <p:cNvSpPr txBox="1"/>
          <p:nvPr/>
        </p:nvSpPr>
        <p:spPr>
          <a:xfrm xmlns:a="http://schemas.openxmlformats.org/drawingml/2006/main">
            <a:off x="540000" y="5652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ourier New"/>
                <a:ea typeface="Courier New"/>
              </a:rPr>
              <a:t>Production:  gunicorn -w 4 -b 0.0.0.0:5000 app:app</a:t>
            </a:r>
          </a:p>
        </p:txBody>
      </p:sp>
      <p:sp>
        <p:nvSpPr>
          <p:cNvPr id="100103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4" name="Heade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540"/>
              </a:solidFill>
            </a:endParaRPr>
          </a:p>
        </p:txBody>
      </p:sp>
      <p:sp>
        <p:nvSpPr>
          <p:cNvPr id="100105" name="HeaderTitle"/>
          <p:cNvSpPr txBox="1"/>
          <p:nvPr/>
        </p:nvSpPr>
        <p:spPr>
          <a:xfrm xmlns:a="http://schemas.openxmlformats.org/drawingml/2006/main">
            <a:off x="540000" y="54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Key Features Summary</a:t>
            </a:r>
          </a:p>
        </p:txBody>
      </p:sp>
      <p:sp>
        <p:nvSpPr>
          <p:cNvPr id="100106" name="F1"/>
          <p:cNvSpPr txBox="1"/>
          <p:nvPr/>
        </p:nvSpPr>
        <p:spPr>
          <a:xfrm xmlns:a="http://schemas.openxmlformats.org/drawingml/2006/main">
            <a:off x="540000" y="72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IBM Granite LLM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ibm/granite-13b-instruct-v2 via watsonx.ai SDK</a:t>
            </a:r>
          </a:p>
        </p:txBody>
      </p:sp>
      <p:sp>
        <p:nvSpPr>
          <p:cNvPr id="100107" name="F2"/>
          <p:cNvSpPr txBox="1"/>
          <p:nvPr/>
        </p:nvSpPr>
        <p:spPr>
          <a:xfrm xmlns:a="http://schemas.openxmlformats.org/drawingml/2006/main">
            <a:off x="4140000" y="72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Agentic Loop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PERCEIVE → PLAN → ACT → GUARDRAIL → REFLECT</a:t>
            </a:r>
          </a:p>
        </p:txBody>
      </p:sp>
      <p:sp>
        <p:nvSpPr>
          <p:cNvPr id="100108" name="F3"/>
          <p:cNvSpPr txBox="1"/>
          <p:nvPr/>
        </p:nvSpPr>
        <p:spPr>
          <a:xfrm xmlns:a="http://schemas.openxmlformats.org/drawingml/2006/main">
            <a:off x="7740000" y="720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AI Ethics Guardrails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Regex harmful content detection + input sanitisation</a:t>
            </a:r>
          </a:p>
        </p:txBody>
      </p:sp>
      <p:sp>
        <p:nvSpPr>
          <p:cNvPr id="100109" name="F4"/>
          <p:cNvSpPr txBox="1"/>
          <p:nvPr/>
        </p:nvSpPr>
        <p:spPr>
          <a:xfrm xmlns:a="http://schemas.openxmlformats.org/drawingml/2006/main">
            <a:off x="540000" y="198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HAM Tone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Helpful, Accurate, Mindful response style enforced</a:t>
            </a:r>
          </a:p>
        </p:txBody>
      </p:sp>
      <p:sp>
        <p:nvSpPr>
          <p:cNvPr id="100110" name="F5"/>
          <p:cNvSpPr txBox="1"/>
          <p:nvPr/>
        </p:nvSpPr>
        <p:spPr>
          <a:xfrm xmlns:a="http://schemas.openxmlformats.org/drawingml/2006/main">
            <a:off x="4140000" y="198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Markdown Export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Timestamped .md plan saved to plans/ directory</a:t>
            </a:r>
          </a:p>
        </p:txBody>
      </p:sp>
      <p:sp>
        <p:nvSpPr>
          <p:cNvPr id="100111" name="F6"/>
          <p:cNvSpPr txBox="1"/>
          <p:nvPr/>
        </p:nvSpPr>
        <p:spPr>
          <a:xfrm xmlns:a="http://schemas.openxmlformats.org/drawingml/2006/main">
            <a:off x="7740000" y="1980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Q&amp;A Agent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Real-time nutrition question answering</a:t>
            </a:r>
          </a:p>
        </p:txBody>
      </p:sp>
      <p:sp>
        <p:nvSpPr>
          <p:cNvPr id="100112" name="F7"/>
          <p:cNvSpPr txBox="1"/>
          <p:nvPr/>
        </p:nvSpPr>
        <p:spPr>
          <a:xfrm xmlns:a="http://schemas.openxmlformats.org/drawingml/2006/main">
            <a:off x="540000" y="324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Reasoning Trace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Full agent step log returned with every plan</a:t>
            </a:r>
          </a:p>
        </p:txBody>
      </p:sp>
      <p:sp>
        <p:nvSpPr>
          <p:cNvPr id="100113" name="F8"/>
          <p:cNvSpPr txBox="1"/>
          <p:nvPr/>
        </p:nvSpPr>
        <p:spPr>
          <a:xfrm xmlns:a="http://schemas.openxmlformats.org/drawingml/2006/main">
            <a:off x="4140000" y="324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Location-Aware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Meals use locally available ingredients (city/country)</a:t>
            </a:r>
          </a:p>
        </p:txBody>
      </p:sp>
      <p:sp>
        <p:nvSpPr>
          <p:cNvPr id="100114" name="F9"/>
          <p:cNvSpPr txBox="1"/>
          <p:nvPr/>
        </p:nvSpPr>
        <p:spPr>
          <a:xfrm xmlns:a="http://schemas.openxmlformats.org/drawingml/2006/main">
            <a:off x="7740000" y="3240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Medical Disclaimer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Prominent disclaimer on every generated plan</a:t>
            </a:r>
          </a:p>
        </p:txBody>
      </p:sp>
      <p:sp>
        <p:nvSpPr>
          <p:cNvPr id="100115" name="F10"/>
          <p:cNvSpPr txBox="1"/>
          <p:nvPr/>
        </p:nvSpPr>
        <p:spPr>
          <a:xfrm xmlns:a="http://schemas.openxmlformats.org/drawingml/2006/main">
            <a:off x="540000" y="450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Web UI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Responsive SPA — no framework dependencies</a:t>
            </a:r>
          </a:p>
        </p:txBody>
      </p:sp>
      <p:sp>
        <p:nvSpPr>
          <p:cNvPr id="100116" name="F11"/>
          <p:cNvSpPr txBox="1"/>
          <p:nvPr/>
        </p:nvSpPr>
        <p:spPr>
          <a:xfrm xmlns:a="http://schemas.openxmlformats.org/drawingml/2006/main">
            <a:off x="4140000" y="450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Windows Launcher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One-click run.bat setup and start</a:t>
            </a:r>
          </a:p>
        </p:txBody>
      </p:sp>
      <p:sp>
        <p:nvSpPr>
          <p:cNvPr id="100117" name="F12"/>
          <p:cNvSpPr txBox="1"/>
          <p:nvPr/>
        </p:nvSpPr>
        <p:spPr>
          <a:xfrm xmlns:a="http://schemas.openxmlformats.org/drawingml/2006/main">
            <a:off x="7740000" y="4500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File Security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Path traversal prevention on download endpoint</a:t>
            </a:r>
          </a:p>
        </p:txBody>
      </p:sp>
      <p:sp>
        <p:nvSpPr>
          <p:cNvPr id="100118" name="Footer"/>
          <p:cNvSpPr txBox="1"/>
          <p:nvPr/>
        </p:nvSpPr>
        <p:spPr>
          <a:xfrm xmlns:a="http://schemas.openxmlformats.org/drawingml/2006/main">
            <a:off x="360000" y="6660000"/>
            <a:ext cx="108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888888"/>
                </a:solidFill>
              </a:rPr>
              <a:t>NutriGuide  ·  IBM Granite AI  ·  Confidential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/>
      <p:sp>
        <p:nvSpPr>
          <p:cNvPr id="100119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E6FBF"/>
              </a:solidFill>
            </a:endParaRPr>
          </a:p>
        </p:txBody>
      </p:sp>
      <p:sp>
        <p:nvSpPr>
          <p:cNvPr id="100120" name="ThankYou"/>
          <p:cNvSpPr txBox="1"/>
          <p:nvPr/>
        </p:nvSpPr>
        <p:spPr>
          <a:xfrm xmlns:a="http://schemas.openxmlformats.org/drawingml/2006/main">
            <a:off x="540000" y="126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21" name="Sub"/>
          <p:cNvSpPr txBox="1"/>
          <p:nvPr/>
        </p:nvSpPr>
        <p:spPr>
          <a:xfrm xmlns:a="http://schemas.openxmlformats.org/drawingml/2006/main">
            <a:off x="540000" y="25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7EB8F7"/>
                </a:solidFill>
              </a:rPr>
              <a:t>NutriGuide — IBM Granite AI Nutrition Planner</a:t>
            </a:r>
          </a:p>
        </p:txBody>
      </p:sp>
      <p:sp>
        <p:nvSpPr>
          <p:cNvPr id="100122" name="Links"/>
          <p:cNvSpPr txBox="1"/>
          <p:nvPr/>
        </p:nvSpPr>
        <p:spPr>
          <a:xfrm xmlns:a="http://schemas.openxmlformats.org/drawingml/2006/main">
            <a:off x="540000" y="324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BCFE8"/>
                </a:solidFill>
                <a:latin typeface="Courier New"/>
                <a:ea typeface="Courier New"/>
              </a:rPr>
              <a:t>GitHub   :  https://github.com/kirtaankolia-lang/nutritionAgent</a:t>
            </a:r>
          </a:p>
          <a:p xmlns:a="http://schemas.openxmlformats.org/drawingml/2006/main">
            <a:r>
              <a:rPr lang="en-US" sz="1800">
                <a:solidFill>
                  <a:srgbClr val="BBCFE8"/>
                </a:solidFill>
                <a:latin typeface="Courier New"/>
                <a:ea typeface="Courier New"/>
              </a:rPr>
              <a:t>Model   :  ibm/granite-13b-instruct-v2  via  watsonx.ai</a:t>
            </a:r>
          </a:p>
          <a:p xmlns:a="http://schemas.openxmlformats.org/drawingml/2006/main">
            <a:r>
              <a:rPr lang="en-US" sz="1800">
                <a:solidFill>
                  <a:srgbClr val="BBCFE8"/>
                </a:solidFill>
                <a:latin typeface="Courier New"/>
                <a:ea typeface="Courier New"/>
              </a:rPr>
              <a:t>License  :  MIT</a:t>
            </a:r>
          </a:p>
        </p:txBody>
      </p:sp>
      <p:sp>
        <p:nvSpPr>
          <p:cNvPr id="100123" name="Built"/>
          <p:cNvSpPr txBox="1"/>
          <p:nvPr/>
        </p:nvSpPr>
        <p:spPr>
          <a:xfrm xmlns:a="http://schemas.openxmlformats.org/drawingml/2006/main">
            <a:off x="540000" y="46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EB8F7"/>
                </a:solidFill>
              </a:rPr>
              <a:t>Built with IBM Granite  ·  Agentic AI SDLC  ·  AI Ethics Compliant</a:t>
            </a:r>
          </a:p>
        </p:txBody>
      </p:sp>
      <p:sp>
        <p:nvSpPr>
          <p:cNvPr id="100124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B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E6FBF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2026-10-13T10:00:38Z</dcterms:created>
  <cp:lastModifiedBy>OfficeCLI</cp:lastModifiedBy>
  <dcterms:modified xsi:type="dcterms:W3CDTF">2026-10-13T10:00:38Z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2026-10-13T10:01:55Z</vt:lpwstr>
  </op:property>
</op:Properties>
</file>